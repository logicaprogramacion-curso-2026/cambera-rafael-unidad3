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embeddedFontLst>
    <p:embeddedFont>
      <p:font typeface="Cabin" panose="020B0604020202020204" charset="0"/>
      <p:regular r:id="rId8"/>
    </p:embeddedFont>
    <p:embeddedFont>
      <p:font typeface="Cabin Bold" panose="020B0604020202020204" charset="0"/>
      <p:regular r:id="rId9"/>
    </p:embeddedFont>
    <p:embeddedFont>
      <p:font typeface="Consolas" panose="020B0609020204030204" pitchFamily="49" charset="0"/>
      <p:regular r:id="rId10"/>
      <p:bold r:id="rId11"/>
      <p:italic r:id="rId12"/>
      <p:boldItalic r:id="rId13"/>
    </p:embeddedFont>
    <p:embeddedFont>
      <p:font typeface="Unbounded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4994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283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52577" y="812825"/>
            <a:ext cx="4667845" cy="1760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Taller 10 - Diseño y Modelado de Pseudocódigo para EduSync AI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3952577" y="2797225"/>
            <a:ext cx="4667845" cy="15334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Subtítulo:</a:t>
            </a: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Automatización Docente Alineada a Estándares Internacionales de IA</a:t>
            </a:r>
            <a:endParaRPr lang="en-US" sz="1150" dirty="0"/>
          </a:p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r>
              <a:rPr lang="en-US" sz="11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Asignatura:</a:t>
            </a: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Lógica de Programación · </a:t>
            </a:r>
            <a:r>
              <a:rPr lang="en-US" sz="11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Autor:</a:t>
            </a: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[Tu Nombre y Apellido]</a:t>
            </a:r>
            <a:endParaRPr lang="en-US" sz="11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Institución:</a:t>
            </a: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Universidad Internacional del Ecuador (UIDE) · </a:t>
            </a:r>
            <a:r>
              <a:rPr lang="en-US" sz="11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Semestre:</a:t>
            </a: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Mayo - Agosto 2026</a:t>
            </a:r>
            <a:endParaRPr lang="en-US" sz="115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2505FE9-4BE5-5F04-DA61-400882F174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65" y="4810078"/>
            <a:ext cx="2038635" cy="3334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52577" y="455861"/>
            <a:ext cx="4667845" cy="638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Contexto del Sistema EduSync AI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3952577" y="1278136"/>
            <a:ext cx="4667845" cy="6201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EduSync AI es una plataforma destinada a apoyar a los docentes en la evaluación y optimización de instrumentos pedagógicos mediante técnicas de Inteligencia Artificial, buscando eficiencia, coherencia y equidad en la retroalimentación.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3952577" y="2036490"/>
            <a:ext cx="2272457" cy="1570583"/>
          </a:xfrm>
          <a:prstGeom prst="roundRect">
            <a:avLst>
              <a:gd name="adj" fmla="val 1295"/>
            </a:avLst>
          </a:prstGeom>
          <a:solidFill>
            <a:srgbClr val="3047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4088160" y="2172072"/>
            <a:ext cx="2001292" cy="398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Propósito del Taller 10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088160" y="2644601"/>
            <a:ext cx="2001292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Traducir el flujo operativo de la plataforma a pseudocódigo estructurado para validar la lógica antes de la implementación.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347892" y="2036490"/>
            <a:ext cx="2272531" cy="1570583"/>
          </a:xfrm>
          <a:prstGeom prst="roundRect">
            <a:avLst>
              <a:gd name="adj" fmla="val 1295"/>
            </a:avLst>
          </a:prstGeom>
          <a:solidFill>
            <a:srgbClr val="3047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6483474" y="2172072"/>
            <a:ext cx="2001366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Alineación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483474" y="2445172"/>
            <a:ext cx="2001366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Evaluación bajo cuatro ejes: Recursos Digitales, Calidad, Empoderamiento Estudiantil y Retroalimentación.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952577" y="3729930"/>
            <a:ext cx="4667845" cy="957709"/>
          </a:xfrm>
          <a:prstGeom prst="roundRect">
            <a:avLst>
              <a:gd name="adj" fmla="val 2124"/>
            </a:avLst>
          </a:prstGeom>
          <a:solidFill>
            <a:srgbClr val="304755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4088160" y="3865513"/>
            <a:ext cx="4396680" cy="19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Audiencia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088160" y="4138612"/>
            <a:ext cx="4396680" cy="413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Docentes y desarrolladores educativos interesados en integrar IA respetando estándares pedagógicos internacionales.</a:t>
            </a:r>
            <a:endParaRPr lang="en-US" sz="105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634BEFC-74BA-13F8-5047-4BC5D621AC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65" y="4810496"/>
            <a:ext cx="2038635" cy="3334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52577" y="538163"/>
            <a:ext cx="4667845" cy="7041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Arquitectura Lógica del Sistema</a:t>
            </a:r>
            <a:endParaRPr lang="en-US" sz="22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577" y="1466627"/>
            <a:ext cx="4667845" cy="20129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266657" y="3101704"/>
            <a:ext cx="996624" cy="124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AI Evaluation</a:t>
            </a:r>
            <a:endParaRPr lang="en-US" sz="750" dirty="0"/>
          </a:p>
        </p:txBody>
      </p:sp>
      <p:sp>
        <p:nvSpPr>
          <p:cNvPr id="6" name="Text 2"/>
          <p:cNvSpPr/>
          <p:nvPr/>
        </p:nvSpPr>
        <p:spPr>
          <a:xfrm>
            <a:off x="4266657" y="2635750"/>
            <a:ext cx="996624" cy="124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Input Sources</a:t>
            </a:r>
            <a:endParaRPr lang="en-US" sz="750" dirty="0"/>
          </a:p>
        </p:txBody>
      </p:sp>
      <p:sp>
        <p:nvSpPr>
          <p:cNvPr id="7" name="Text 3"/>
          <p:cNvSpPr/>
          <p:nvPr/>
        </p:nvSpPr>
        <p:spPr>
          <a:xfrm>
            <a:off x="4266657" y="2174502"/>
            <a:ext cx="996624" cy="124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Select Mode</a:t>
            </a:r>
            <a:endParaRPr lang="en-US" sz="750" dirty="0"/>
          </a:p>
        </p:txBody>
      </p:sp>
      <p:sp>
        <p:nvSpPr>
          <p:cNvPr id="8" name="Text 4"/>
          <p:cNvSpPr/>
          <p:nvPr/>
        </p:nvSpPr>
        <p:spPr>
          <a:xfrm>
            <a:off x="4266657" y="1708548"/>
            <a:ext cx="996624" cy="124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Authenticate</a:t>
            </a:r>
            <a:endParaRPr lang="en-US" sz="750" dirty="0"/>
          </a:p>
        </p:txBody>
      </p:sp>
      <p:sp>
        <p:nvSpPr>
          <p:cNvPr id="9" name="Text 5"/>
          <p:cNvSpPr/>
          <p:nvPr/>
        </p:nvSpPr>
        <p:spPr>
          <a:xfrm>
            <a:off x="3952577" y="3647777"/>
            <a:ext cx="4667845" cy="957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Resumen del flujo principal: 1) Bucle de validación de credenciales; 2) Modos: crear o analizar; 3) Carga de archivos (PDF/Word) o texto; 4) Evaluación automática según los 4 ejes; 5) Aplicar mejoras automáticas o edición manual; 6) Guardado y exportación (PDF/Word).</a:t>
            </a:r>
            <a:endParaRPr lang="en-US" sz="115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8AFCC837-E9CA-7BF1-636C-E5B20EED25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465" y="4773587"/>
            <a:ext cx="2038635" cy="3334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52577" y="456233"/>
            <a:ext cx="4667845" cy="187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Pseudocódigo del Algoritmo (EduSync AI)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3952577" y="706562"/>
            <a:ext cx="5125045" cy="778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50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  Proceso EduSync_AI_EvaluacionDocente   </a:t>
            </a:r>
            <a:endParaRPr lang="en-US" sz="500" dirty="0"/>
          </a:p>
        </p:txBody>
      </p:sp>
      <p:sp>
        <p:nvSpPr>
          <p:cNvPr id="5" name="Shape 2"/>
          <p:cNvSpPr/>
          <p:nvPr/>
        </p:nvSpPr>
        <p:spPr>
          <a:xfrm>
            <a:off x="3952577" y="831875"/>
            <a:ext cx="4667845" cy="3590627"/>
          </a:xfrm>
          <a:prstGeom prst="roundRect">
            <a:avLst>
              <a:gd name="adj" fmla="val 332"/>
            </a:avLst>
          </a:prstGeom>
          <a:solidFill>
            <a:srgbClr val="1E3543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3"/>
          <p:cNvSpPr/>
          <p:nvPr/>
        </p:nvSpPr>
        <p:spPr>
          <a:xfrm>
            <a:off x="4047902" y="911349"/>
            <a:ext cx="4477196" cy="34316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Autenticación en bucle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Repetir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Leer usuario, contrasena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credencialesValidas &lt;- ValidarCredenciales(usuario, contrasena)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Hasta Que credencialesValidas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Selección y Carga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Leer opcionMenu, datosEntrada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GuardarEnBaseDeDatos("BD_EvaluacionesTemp", datosEntrada)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Análisis por IA según 4 estándares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EvaluarEstandar("Recursos Digitales", "Calidad", "Empoderamiento", "Retroalimentación")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reporteGenerado &lt;- GenerarReportePuntajesYRecomendaciones()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Decisión del Docente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 aceptarSugerencias Entonces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evaluacionFinal &lt;- AplicarMejorasIA(datosEntrada, reporteGenerado)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Sino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evaluacionFinal &lt;- EditarManualmente(datosEntrada)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FinSi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// Guardado y Exportación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GuardarEnBaseDeDatos("BD_EvaluacionesFinales", evaluacionFinal)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ExportarOCompartir(evaluacionFinal)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FinProceso</a:t>
            </a:r>
            <a:endParaRPr lang="en-US" sz="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6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endParaRPr lang="en-US" sz="600" dirty="0"/>
          </a:p>
        </p:txBody>
      </p:sp>
      <p:sp>
        <p:nvSpPr>
          <p:cNvPr id="7" name="Shape 4"/>
          <p:cNvSpPr/>
          <p:nvPr/>
        </p:nvSpPr>
        <p:spPr>
          <a:xfrm>
            <a:off x="3952577" y="4469978"/>
            <a:ext cx="4667845" cy="217215"/>
          </a:xfrm>
          <a:prstGeom prst="roundRect">
            <a:avLst>
              <a:gd name="adj" fmla="val 5489"/>
            </a:avLst>
          </a:prstGeom>
          <a:solidFill>
            <a:srgbClr val="08786D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052" y="4533900"/>
            <a:ext cx="99343" cy="7947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10869" y="4532040"/>
            <a:ext cx="4787280" cy="973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600" dirty="0">
                <a:solidFill>
                  <a:srgbClr val="FFFFFF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El pseudocódigo prioriza claridad de decisiones y trazabilidad entre versiones temporales y finales.</a:t>
            </a:r>
            <a:endParaRPr lang="en-US" sz="6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2A519D0-1308-A5E7-2E6E-FDF51B2E0C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365" y="4796731"/>
            <a:ext cx="2038635" cy="33342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77" y="633933"/>
            <a:ext cx="3897288" cy="220846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727897" y="644872"/>
            <a:ext cx="3897288" cy="58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Control de Versiones y Conclusiones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727897" y="1330375"/>
            <a:ext cx="3897288" cy="3719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Repositorio y flujo</a:t>
            </a: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: Estructura local bajo carpeta </a:t>
            </a:r>
            <a:r>
              <a:rPr lang="en-US" sz="950" dirty="0">
                <a:solidFill>
                  <a:srgbClr val="CAD6DE"/>
                </a:solidFill>
                <a:highlight>
                  <a:srgbClr val="1E3543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deber6-pseudocodigo-taller10</a:t>
            </a: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. Comandos empleados: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4727897" y="1794570"/>
            <a:ext cx="3897288" cy="832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22000"/>
              </a:lnSpc>
              <a:buSzPct val="100000"/>
              <a:buChar char="•"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git pull — actualización del directorio institucional</a:t>
            </a:r>
            <a:endParaRPr lang="en-US" sz="950" dirty="0"/>
          </a:p>
          <a:p>
            <a:pPr marL="193040" indent="-193040" algn="l">
              <a:lnSpc>
                <a:spcPct val="122000"/>
              </a:lnSpc>
              <a:buSzPct val="100000"/>
              <a:buChar char="•"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git add . — registro de README.md y pseudocódigo (.alg)</a:t>
            </a:r>
            <a:endParaRPr lang="en-US" sz="950" dirty="0"/>
          </a:p>
          <a:p>
            <a:pPr marL="193040" indent="-193040" algn="l">
              <a:lnSpc>
                <a:spcPct val="122000"/>
              </a:lnSpc>
              <a:buSzPct val="100000"/>
              <a:buChar char="•"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git commit -m "feat: pseudocodigo y readme para taller 10 edusync ai"</a:t>
            </a:r>
            <a:endParaRPr lang="en-US" sz="950" dirty="0"/>
          </a:p>
          <a:p>
            <a:pPr marL="193040" indent="-193040" algn="l">
              <a:lnSpc>
                <a:spcPct val="122000"/>
              </a:lnSpc>
              <a:buSzPct val="100000"/>
              <a:buChar char="•"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git push origin main — sincronización con remoto (Canvas/GitHub)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4727897" y="2773338"/>
            <a:ext cx="3897288" cy="14288"/>
          </a:xfrm>
          <a:prstGeom prst="roundRect">
            <a:avLst>
              <a:gd name="adj" fmla="val 49998"/>
            </a:avLst>
          </a:prstGeom>
          <a:solidFill>
            <a:srgbClr val="CAD6DE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523577" y="3073226"/>
            <a:ext cx="2630537" cy="1063526"/>
          </a:xfrm>
          <a:prstGeom prst="roundRect">
            <a:avLst>
              <a:gd name="adj" fmla="val 1747"/>
            </a:avLst>
          </a:prstGeom>
          <a:solidFill>
            <a:srgbClr val="112836"/>
          </a:solidFill>
          <a:ln w="14288">
            <a:solidFill>
              <a:srgbClr val="4960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661690" y="3211339"/>
            <a:ext cx="2354312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Validación Lógica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61690" y="3455045"/>
            <a:ext cx="2354312" cy="543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El pseudocódigo asegura cobertura de rutas de decisión antes de codificar, reduciendo errores de implementación.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56657" y="3073226"/>
            <a:ext cx="2630612" cy="1063526"/>
          </a:xfrm>
          <a:prstGeom prst="roundRect">
            <a:avLst>
              <a:gd name="adj" fmla="val 1747"/>
            </a:avLst>
          </a:prstGeom>
          <a:solidFill>
            <a:srgbClr val="112836"/>
          </a:solidFill>
          <a:ln w="14288">
            <a:solidFill>
              <a:srgbClr val="4960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8"/>
          <p:cNvSpPr/>
          <p:nvPr/>
        </p:nvSpPr>
        <p:spPr>
          <a:xfrm>
            <a:off x="3394770" y="3211339"/>
            <a:ext cx="2354387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Flexibilidad Pedagógica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394770" y="3455045"/>
            <a:ext cx="2354387" cy="543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El docente mantiene control final sobre sugerencias automáticas, favoreciendo adaptabilidad didáctica.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89811" y="3073226"/>
            <a:ext cx="2630537" cy="1063526"/>
          </a:xfrm>
          <a:prstGeom prst="roundRect">
            <a:avLst>
              <a:gd name="adj" fmla="val 1747"/>
            </a:avLst>
          </a:prstGeom>
          <a:solidFill>
            <a:srgbClr val="112836"/>
          </a:solidFill>
          <a:ln w="14288">
            <a:solidFill>
              <a:srgbClr val="49606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4" name="Text 11"/>
          <p:cNvSpPr/>
          <p:nvPr/>
        </p:nvSpPr>
        <p:spPr>
          <a:xfrm>
            <a:off x="6127924" y="3211339"/>
            <a:ext cx="2354312" cy="182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CAD6DE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Trazabilidad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127924" y="3455045"/>
            <a:ext cx="2354312" cy="543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Git aporta historial claro de cambios, facilitando revisiones, colaboración y entrega académica.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23577" y="4283125"/>
            <a:ext cx="8096845" cy="14288"/>
          </a:xfrm>
          <a:prstGeom prst="roundRect">
            <a:avLst>
              <a:gd name="adj" fmla="val 49998"/>
            </a:avLst>
          </a:prstGeom>
          <a:solidFill>
            <a:srgbClr val="CAD6DE">
              <a:alpha val="5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/>
          <p:nvPr/>
        </p:nvSpPr>
        <p:spPr>
          <a:xfrm>
            <a:off x="523577" y="4443785"/>
            <a:ext cx="8554045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950" b="1" dirty="0">
                <a:solidFill>
                  <a:srgbClr val="CAD6DE"/>
                </a:solidFill>
                <a:latin typeface="Cabin Bold" pitchFamily="34" charset="0"/>
                <a:ea typeface="Cabin Bold" pitchFamily="34" charset="-122"/>
                <a:cs typeface="Cabin Bold" pitchFamily="34" charset="-120"/>
              </a:rPr>
              <a:t>Próximos pasos sugeridos:</a:t>
            </a:r>
            <a:r>
              <a:rPr lang="en-US" sz="950" dirty="0">
                <a:solidFill>
                  <a:srgbClr val="CAD6DE"/>
                </a:solidFill>
                <a:latin typeface="Cabin" pitchFamily="34" charset="0"/>
                <a:ea typeface="Cabin" pitchFamily="34" charset="-122"/>
                <a:cs typeface="Cabin" pitchFamily="34" charset="-120"/>
              </a:rPr>
              <a:t> Validación con casos reales, pruebas de usabilidad docente y preparación de la especificación técnica para la etapa de desarrollo.</a:t>
            </a:r>
            <a:endParaRPr lang="en-US" sz="95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8F7BB672-5AE7-EA74-675F-5E6E47D69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365" y="4810078"/>
            <a:ext cx="2038635" cy="33342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516</Words>
  <Application>Microsoft Office PowerPoint</Application>
  <PresentationFormat>Presentación en pantalla (16:9)</PresentationFormat>
  <Paragraphs>66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Cabin</vt:lpstr>
      <vt:lpstr>Consolas</vt:lpstr>
      <vt:lpstr>Unbounded</vt:lpstr>
      <vt:lpstr>Arial</vt:lpstr>
      <vt:lpstr>Cabin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CAMBERA GARABAN RAFAEL</cp:lastModifiedBy>
  <cp:revision>2</cp:revision>
  <dcterms:created xsi:type="dcterms:W3CDTF">2026-08-11T17:02:45Z</dcterms:created>
  <dcterms:modified xsi:type="dcterms:W3CDTF">2026-08-11T17:04:33Z</dcterms:modified>
</cp:coreProperties>
</file>